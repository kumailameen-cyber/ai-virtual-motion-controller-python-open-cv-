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61" r:id="rId4"/>
    <p:sldId id="258" r:id="rId5"/>
    <p:sldId id="259" r:id="rId6"/>
    <p:sldId id="260"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1464"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7A94641D-F982-4C24-AD8E-CB20E63D692E}" type="datetimeFigureOut">
              <a:rPr lang="en-US" smtClean="0"/>
              <a:t>9/23/2022</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74BA98B7-2978-4E48-BD0E-EDF94E2A814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A94641D-F982-4C24-AD8E-CB20E63D692E}" type="datetimeFigureOut">
              <a:rPr lang="en-US" smtClean="0"/>
              <a:t>9/23/2022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BA98B7-2978-4E48-BD0E-EDF94E2A814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7A94641D-F982-4C24-AD8E-CB20E63D692E}" type="datetimeFigureOut">
              <a:rPr lang="en-US" smtClean="0"/>
              <a:t>9/23/2022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BA98B7-2978-4E48-BD0E-EDF94E2A814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A94641D-F982-4C24-AD8E-CB20E63D692E}" type="datetimeFigureOut">
              <a:rPr lang="en-US" smtClean="0"/>
              <a:t>9/23/2022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BA98B7-2978-4E48-BD0E-EDF94E2A814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7A94641D-F982-4C24-AD8E-CB20E63D692E}" type="datetimeFigureOut">
              <a:rPr lang="en-US" smtClean="0"/>
              <a:t>9/23/2022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BA98B7-2978-4E48-BD0E-EDF94E2A814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7A94641D-F982-4C24-AD8E-CB20E63D692E}" type="datetimeFigureOut">
              <a:rPr lang="en-US" smtClean="0"/>
              <a:t>9/23/2022</a:t>
            </a:fld>
            <a:endParaRPr lang="en-US"/>
          </a:p>
        </p:txBody>
      </p:sp>
      <p:sp>
        <p:nvSpPr>
          <p:cNvPr id="8" name="Slide Number Placeholder 7"/>
          <p:cNvSpPr>
            <a:spLocks noGrp="1"/>
          </p:cNvSpPr>
          <p:nvPr>
            <p:ph type="sldNum" sz="quarter" idx="11"/>
          </p:nvPr>
        </p:nvSpPr>
        <p:spPr/>
        <p:txBody>
          <a:bodyPr/>
          <a:lstStyle/>
          <a:p>
            <a:fld id="{74BA98B7-2978-4E48-BD0E-EDF94E2A8142}"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94641D-F982-4C24-AD8E-CB20E63D692E}" type="datetimeFigureOut">
              <a:rPr lang="en-US" smtClean="0"/>
              <a:t>9/23/2022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BA98B7-2978-4E48-BD0E-EDF94E2A814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A94641D-F982-4C24-AD8E-CB20E63D692E}" type="datetimeFigureOut">
              <a:rPr lang="en-US" smtClean="0"/>
              <a:t>9/23/2022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156448" y="6422064"/>
            <a:ext cx="762000" cy="365125"/>
          </a:xfrm>
        </p:spPr>
        <p:txBody>
          <a:bodyPr/>
          <a:lstStyle/>
          <a:p>
            <a:fld id="{74BA98B7-2978-4E48-BD0E-EDF94E2A814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7A94641D-F982-4C24-AD8E-CB20E63D692E}" type="datetimeFigureOut">
              <a:rPr lang="en-US" smtClean="0"/>
              <a:t>9/23/2022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BA98B7-2978-4E48-BD0E-EDF94E2A814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A94641D-F982-4C24-AD8E-CB20E63D692E}" type="datetimeFigureOut">
              <a:rPr lang="en-US" smtClean="0"/>
              <a:t>9/23/2022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BA98B7-2978-4E48-BD0E-EDF94E2A814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A94641D-F982-4C24-AD8E-CB20E63D692E}" type="datetimeFigureOut">
              <a:rPr lang="en-US" smtClean="0"/>
              <a:t>9/23/2022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BA98B7-2978-4E48-BD0E-EDF94E2A814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shadeToTitle="1">
        <a:gradFill flip="none" rotWithShape="1">
          <a:gsLst>
            <a:gs pos="0">
              <a:schemeClr val="bg1">
                <a:shade val="40000"/>
                <a:satMod val="150000"/>
                <a:lumMod val="0"/>
              </a:schemeClr>
            </a:gs>
            <a:gs pos="30000">
              <a:schemeClr val="bg1">
                <a:shade val="60000"/>
                <a:satMod val="150000"/>
              </a:schemeClr>
            </a:gs>
            <a:gs pos="100000">
              <a:schemeClr val="bg1">
                <a:tint val="83000"/>
                <a:satMod val="200000"/>
              </a:schemeClr>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7A94641D-F982-4C24-AD8E-CB20E63D692E}" type="datetimeFigureOut">
              <a:rPr lang="en-US" smtClean="0"/>
              <a:t>9/23/2022</a:t>
            </a:fld>
            <a:endParaRPr lang="en-US"/>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74BA98B7-2978-4E48-BD0E-EDF94E2A8142}"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shadeToTitle="1">
        <a:pattFill prst="dashDnDiag">
          <a:fgClr>
            <a:schemeClr val="bg2">
              <a:lumMod val="50000"/>
            </a:schemeClr>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3600"/>
            <a:ext cx="7699248" cy="2301240"/>
          </a:xfrm>
        </p:spPr>
        <p:txBody>
          <a:bodyPr>
            <a:normAutofit/>
          </a:bodyPr>
          <a:lstStyle/>
          <a:p>
            <a:pPr algn="ctr"/>
            <a:r>
              <a:rPr lang="en-US" sz="5400" dirty="0" smtClean="0">
                <a:effectLst/>
                <a:latin typeface="Bahnschrift Condensed" pitchFamily="34" charset="0"/>
              </a:rPr>
              <a:t>AI VIRTUAL MOTION CONTROLLER</a:t>
            </a:r>
            <a:endParaRPr lang="en-US" sz="5400" dirty="0">
              <a:effectLst/>
              <a:latin typeface="Bahnschrift Condensed" pitchFamily="34" charset="0"/>
            </a:endParaRPr>
          </a:p>
        </p:txBody>
      </p:sp>
    </p:spTree>
    <p:extLst>
      <p:ext uri="{BB962C8B-B14F-4D97-AF65-F5344CB8AC3E}">
        <p14:creationId xmlns:p14="http://schemas.microsoft.com/office/powerpoint/2010/main" val="275364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1000" y="533400"/>
            <a:ext cx="8839200" cy="1752600"/>
          </a:xfrm>
        </p:spPr>
        <p:txBody>
          <a:bodyPr>
            <a:noAutofit/>
          </a:bodyPr>
          <a:lstStyle/>
          <a:p>
            <a:pPr algn="l">
              <a:lnSpc>
                <a:spcPct val="80000"/>
              </a:lnSpc>
            </a:pPr>
            <a:r>
              <a:rPr lang="en-US" sz="128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latin typeface="Bahnschrift Condensed" pitchFamily="34" charset="0"/>
                <a:ea typeface="+mj-ea"/>
                <a:cs typeface="+mj-cs"/>
              </a:rPr>
              <a:t>INTRODUCTION:</a:t>
            </a:r>
            <a:endParaRPr lang="en-US" sz="128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latin typeface="Bahnschrift Condensed" pitchFamily="34" charset="0"/>
              <a:ea typeface="+mj-ea"/>
              <a:cs typeface="+mj-cs"/>
            </a:endParaRPr>
          </a:p>
        </p:txBody>
      </p:sp>
      <p:sp>
        <p:nvSpPr>
          <p:cNvPr id="2" name="Title 1"/>
          <p:cNvSpPr>
            <a:spLocks noGrp="1"/>
          </p:cNvSpPr>
          <p:nvPr>
            <p:ph type="ctrTitle"/>
          </p:nvPr>
        </p:nvSpPr>
        <p:spPr>
          <a:xfrm>
            <a:off x="457200" y="3048000"/>
            <a:ext cx="8257736" cy="3200400"/>
          </a:xfrm>
        </p:spPr>
        <p:txBody>
          <a:bodyPr anchor="t">
            <a:normAutofit/>
          </a:bodyPr>
          <a:lstStyle/>
          <a:p>
            <a:pPr algn="l"/>
            <a:r>
              <a:rPr lang="en-US" sz="2000" b="0" dirty="0">
                <a:solidFill>
                  <a:schemeClr val="accent2"/>
                </a:solidFill>
                <a:effectLst/>
              </a:rPr>
              <a:t>The Virtual AI MOTION CONTROLLER provides </a:t>
            </a:r>
            <a:r>
              <a:rPr lang="en-US" sz="2000" b="0" dirty="0">
                <a:solidFill>
                  <a:schemeClr val="accent2"/>
                </a:solidFill>
                <a:effectLst/>
              </a:rPr>
              <a:t>an infrastructure between the user and the system using only a camera. </a:t>
            </a:r>
            <a:r>
              <a:rPr lang="en-US" sz="2000" b="0" dirty="0">
                <a:solidFill>
                  <a:schemeClr val="accent2"/>
                </a:solidFill>
                <a:effectLst/>
              </a:rPr>
              <a:t>It allows users to interface with machines without the use of mechanical or physical devices, and even control mouse </a:t>
            </a:r>
            <a:r>
              <a:rPr lang="en-US" sz="2000" b="0" dirty="0" smtClean="0">
                <a:solidFill>
                  <a:schemeClr val="accent2"/>
                </a:solidFill>
                <a:effectLst/>
              </a:rPr>
              <a:t>functionalities.</a:t>
            </a:r>
            <a:endParaRPr lang="en-US" sz="2000" b="0" dirty="0">
              <a:solidFill>
                <a:schemeClr val="accent2"/>
              </a:solidFill>
              <a:effectLst/>
            </a:endParaRPr>
          </a:p>
        </p:txBody>
      </p:sp>
    </p:spTree>
    <p:extLst>
      <p:ext uri="{BB962C8B-B14F-4D97-AF65-F5344CB8AC3E}">
        <p14:creationId xmlns:p14="http://schemas.microsoft.com/office/powerpoint/2010/main" val="24830995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G:\kumail\AI-Virtual-Mouse.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3000" y="1371600"/>
            <a:ext cx="6553200" cy="5183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12123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828800"/>
            <a:ext cx="8229600" cy="3810000"/>
          </a:xfrm>
        </p:spPr>
        <p:txBody>
          <a:bodyPr>
            <a:noAutofit/>
          </a:bodyPr>
          <a:lstStyle/>
          <a:p>
            <a:pPr algn="l"/>
            <a:r>
              <a:rPr lang="en-US" sz="2400" b="0" dirty="0">
                <a:solidFill>
                  <a:schemeClr val="accent2"/>
                </a:solidFill>
                <a:effectLst/>
              </a:rPr>
              <a:t>The main objective of the proposed virtual AI mouse is to furnish an alternative to the conventional physical mouse that provides mouse functions with the help of computer vision enabled computer that houses a web camera which recognizes fingers and hand gestures and processes the captured frames and uses a machine learning algorithm to execute the defined mouse functions like moving the cursor, right click, left click and scrolling function. Also we are using multiple libraries to perform this project.</a:t>
            </a:r>
            <a:br>
              <a:rPr lang="en-US" sz="2400" b="0" dirty="0">
                <a:solidFill>
                  <a:schemeClr val="accent2"/>
                </a:solidFill>
                <a:effectLst/>
              </a:rPr>
            </a:br>
            <a:endParaRPr lang="en-US" sz="2400" b="0" dirty="0">
              <a:solidFill>
                <a:schemeClr val="accent2"/>
              </a:solidFill>
              <a:effectLst/>
            </a:endParaRPr>
          </a:p>
        </p:txBody>
      </p:sp>
      <p:sp>
        <p:nvSpPr>
          <p:cNvPr id="3" name="Subtitle 2"/>
          <p:cNvSpPr>
            <a:spLocks noGrp="1"/>
          </p:cNvSpPr>
          <p:nvPr>
            <p:ph type="subTitle" idx="1"/>
          </p:nvPr>
        </p:nvSpPr>
        <p:spPr>
          <a:xfrm>
            <a:off x="1143000" y="152400"/>
            <a:ext cx="6480048" cy="1752600"/>
          </a:xfrm>
        </p:spPr>
        <p:txBody>
          <a:bodyPr>
            <a:normAutofit fontScale="92500" lnSpcReduction="20000"/>
          </a:bodyPr>
          <a:lstStyle/>
          <a:p>
            <a:pPr algn="ctr"/>
            <a:r>
              <a:rPr lang="en-US" sz="138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latin typeface="Bahnschrift Condensed" pitchFamily="34" charset="0"/>
                <a:ea typeface="+mj-ea"/>
                <a:cs typeface="+mj-cs"/>
              </a:rPr>
              <a:t>PURPOSE :</a:t>
            </a:r>
            <a:endParaRPr lang="en-US" sz="138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latin typeface="Bahnschrift Condensed" pitchFamily="34" charset="0"/>
              <a:ea typeface="+mj-ea"/>
              <a:cs typeface="+mj-cs"/>
            </a:endParaRPr>
          </a:p>
          <a:p>
            <a:endParaRPr lang="en-US" dirty="0"/>
          </a:p>
        </p:txBody>
      </p:sp>
    </p:spTree>
    <p:extLst>
      <p:ext uri="{BB962C8B-B14F-4D97-AF65-F5344CB8AC3E}">
        <p14:creationId xmlns:p14="http://schemas.microsoft.com/office/powerpoint/2010/main" val="13946142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2544762"/>
          </a:xfrm>
        </p:spPr>
        <p:txBody>
          <a:bodyPr>
            <a:normAutofit/>
          </a:bodyPr>
          <a:lstStyle/>
          <a:p>
            <a:pPr algn="ctr">
              <a:spcBef>
                <a:spcPct val="20000"/>
              </a:spcBef>
              <a:buClr>
                <a:schemeClr val="accent1"/>
              </a:buClr>
              <a:buSzPct val="80000"/>
            </a:pPr>
            <a:r>
              <a:rPr lang="en-US" sz="138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latin typeface="Bahnschrift Condensed" pitchFamily="34" charset="0"/>
              </a:rPr>
              <a:t>METHOD</a:t>
            </a:r>
            <a:endParaRPr lang="en-US" sz="138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latin typeface="Bahnschrift Condensed" pitchFamily="34" charset="0"/>
            </a:endParaRP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05000" y="2819400"/>
            <a:ext cx="4714875" cy="323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87480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spcBef>
                <a:spcPct val="20000"/>
              </a:spcBef>
              <a:buClr>
                <a:schemeClr val="accent1"/>
              </a:buClr>
              <a:buSzPct val="80000"/>
            </a:pPr>
            <a:r>
              <a:rPr lang="en-US" sz="138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latin typeface="Bahnschrift Condensed" pitchFamily="34" charset="0"/>
              </a:rPr>
              <a:t>media </a:t>
            </a:r>
            <a:r>
              <a:rPr lang="en-US" sz="13800" b="1" cap="all" dirty="0" smtClean="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latin typeface="Bahnschrift Condensed" pitchFamily="34" charset="0"/>
              </a:rPr>
              <a:t>pipe</a:t>
            </a:r>
            <a:endParaRPr lang="en-US" sz="138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latin typeface="Bahnschrift Condensed" pitchFamily="34" charset="0"/>
            </a:endParaRPr>
          </a:p>
        </p:txBody>
      </p:sp>
      <p:sp>
        <p:nvSpPr>
          <p:cNvPr id="3" name="TextBox 2"/>
          <p:cNvSpPr txBox="1"/>
          <p:nvPr/>
        </p:nvSpPr>
        <p:spPr>
          <a:xfrm>
            <a:off x="0" y="1752600"/>
            <a:ext cx="8305800" cy="4616648"/>
          </a:xfrm>
          <a:prstGeom prst="rect">
            <a:avLst/>
          </a:prstGeom>
          <a:noFill/>
        </p:spPr>
        <p:txBody>
          <a:bodyPr wrap="square" rtlCol="0">
            <a:spAutoFit/>
          </a:bodyPr>
          <a:lstStyle/>
          <a:p>
            <a:r>
              <a:rPr lang="en-US" sz="1400" cap="all" dirty="0" smtClean="0">
                <a:ln w="5000" cmpd="sng">
                  <a:solidFill>
                    <a:schemeClr val="accent1">
                      <a:tint val="80000"/>
                      <a:shade val="99000"/>
                      <a:satMod val="500000"/>
                    </a:schemeClr>
                  </a:solidFill>
                  <a:prstDash val="solid"/>
                </a:ln>
                <a:solidFill>
                  <a:schemeClr val="accent2"/>
                </a:solidFill>
                <a:latin typeface="+mj-lt"/>
                <a:ea typeface="+mj-ea"/>
                <a:cs typeface="+mj-cs"/>
              </a:rPr>
              <a:t>The </a:t>
            </a:r>
            <a:r>
              <a:rPr lang="en-US" sz="1400" cap="all" dirty="0" err="1">
                <a:ln w="5000" cmpd="sng">
                  <a:solidFill>
                    <a:schemeClr val="accent1">
                      <a:tint val="80000"/>
                      <a:shade val="99000"/>
                      <a:satMod val="500000"/>
                    </a:schemeClr>
                  </a:solidFill>
                  <a:prstDash val="solid"/>
                </a:ln>
                <a:solidFill>
                  <a:schemeClr val="accent2"/>
                </a:solidFill>
                <a:latin typeface="+mj-lt"/>
                <a:ea typeface="+mj-ea"/>
                <a:cs typeface="+mj-cs"/>
              </a:rPr>
              <a:t>MediaPipe</a:t>
            </a: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 framework is used by the developer for building and analyzing the systems through graphs, and it also been used for developing the systems for the application purpose. </a:t>
            </a:r>
            <a:r>
              <a:rPr lang="en-US" sz="1400" cap="all" dirty="0" err="1">
                <a:ln w="5000" cmpd="sng">
                  <a:solidFill>
                    <a:schemeClr val="accent1">
                      <a:tint val="80000"/>
                      <a:shade val="99000"/>
                      <a:satMod val="500000"/>
                    </a:schemeClr>
                  </a:solidFill>
                  <a:prstDash val="solid"/>
                </a:ln>
                <a:solidFill>
                  <a:schemeClr val="accent2"/>
                </a:solidFill>
                <a:latin typeface="+mj-lt"/>
                <a:ea typeface="+mj-ea"/>
                <a:cs typeface="+mj-cs"/>
              </a:rPr>
              <a:t>MediaPipe</a:t>
            </a: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 library is used by developers for </a:t>
            </a: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architecting and </a:t>
            </a: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analyzing various models through graphs and many of these have been used for building applications. </a:t>
            </a:r>
            <a:r>
              <a:rPr lang="en-US" sz="1400" cap="all" dirty="0" err="1">
                <a:ln w="5000" cmpd="sng">
                  <a:solidFill>
                    <a:schemeClr val="accent1">
                      <a:tint val="80000"/>
                      <a:shade val="99000"/>
                      <a:satMod val="500000"/>
                    </a:schemeClr>
                  </a:solidFill>
                  <a:prstDash val="solid"/>
                </a:ln>
                <a:solidFill>
                  <a:schemeClr val="accent2"/>
                </a:solidFill>
                <a:latin typeface="+mj-lt"/>
                <a:ea typeface="+mj-ea"/>
                <a:cs typeface="+mj-cs"/>
              </a:rPr>
              <a:t>MediaPipe</a:t>
            </a: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 </a:t>
            </a: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Hands utilizes </a:t>
            </a: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an ML pipeline consisting of multiple models working together. The model that incorporated </a:t>
            </a:r>
            <a:r>
              <a:rPr lang="en-US" sz="1400" cap="all" dirty="0" err="1">
                <a:ln w="5000" cmpd="sng">
                  <a:solidFill>
                    <a:schemeClr val="accent1">
                      <a:tint val="80000"/>
                      <a:shade val="99000"/>
                      <a:satMod val="500000"/>
                    </a:schemeClr>
                  </a:solidFill>
                  <a:prstDash val="solid"/>
                </a:ln>
                <a:solidFill>
                  <a:schemeClr val="accent2"/>
                </a:solidFill>
                <a:latin typeface="+mj-lt"/>
                <a:ea typeface="+mj-ea"/>
                <a:cs typeface="+mj-cs"/>
              </a:rPr>
              <a:t>MediaPipe</a:t>
            </a: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 needs to</a:t>
            </a:r>
            <a:b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b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work in a pipeline fashion. It consists of mainly graphs, nodes, streams and </a:t>
            </a: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calculators. The </a:t>
            </a:r>
            <a:r>
              <a:rPr lang="en-US" sz="1400" cap="all" dirty="0" err="1">
                <a:ln w="5000" cmpd="sng">
                  <a:solidFill>
                    <a:schemeClr val="accent1">
                      <a:tint val="80000"/>
                      <a:shade val="99000"/>
                      <a:satMod val="500000"/>
                    </a:schemeClr>
                  </a:solidFill>
                  <a:prstDash val="solid"/>
                </a:ln>
                <a:solidFill>
                  <a:schemeClr val="accent2"/>
                </a:solidFill>
                <a:latin typeface="+mj-lt"/>
                <a:ea typeface="+mj-ea"/>
                <a:cs typeface="+mj-cs"/>
              </a:rPr>
              <a:t>MediaPipe</a:t>
            </a: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 framework is based on three fundamental parts; they are performance evaluation, framework for </a:t>
            </a: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retrieving sensor </a:t>
            </a: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data, and a collection of components which are called calculators , and they are reusable.</a:t>
            </a:r>
            <a:b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b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A pipeline is a graph which consists of components called calculators, where each calculator is connected by streams </a:t>
            </a: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in which </a:t>
            </a: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the packets of data flow through. The pipeline is implemented as a Media Pipe graph that uses a hand </a:t>
            </a: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landmark tracking </a:t>
            </a: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sub graph from the hand landmark module, and renders using a dedicated hand rendered sub graph.</a:t>
            </a:r>
            <a:b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b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The hand landmark tracking sub graph internally uses a hand landmark sub graph from the same module and a </a:t>
            </a: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palm detection </a:t>
            </a: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sub graph from the palm detection module. The calculators and streams combined create a data-flow diagram; the graph is created with </a:t>
            </a:r>
            <a:r>
              <a:rPr lang="en-US" sz="1400" cap="all" dirty="0" err="1">
                <a:ln w="5000" cmpd="sng">
                  <a:solidFill>
                    <a:schemeClr val="accent1">
                      <a:tint val="80000"/>
                      <a:shade val="99000"/>
                      <a:satMod val="500000"/>
                    </a:schemeClr>
                  </a:solidFill>
                  <a:prstDash val="solid"/>
                </a:ln>
                <a:solidFill>
                  <a:schemeClr val="accent2"/>
                </a:solidFill>
                <a:latin typeface="+mj-lt"/>
                <a:ea typeface="+mj-ea"/>
                <a:cs typeface="+mj-cs"/>
              </a:rPr>
              <a:t>MediaPipe</a:t>
            </a:r>
            <a: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t> where each node is a calculator and the nodes are connected by streams.</a:t>
            </a:r>
            <a:br>
              <a:rPr lang="en-US" sz="1400" cap="all" dirty="0">
                <a:ln w="5000" cmpd="sng">
                  <a:solidFill>
                    <a:schemeClr val="accent1">
                      <a:tint val="80000"/>
                      <a:shade val="99000"/>
                      <a:satMod val="500000"/>
                    </a:schemeClr>
                  </a:solidFill>
                  <a:prstDash val="solid"/>
                </a:ln>
                <a:solidFill>
                  <a:schemeClr val="accent2"/>
                </a:solidFill>
                <a:latin typeface="+mj-lt"/>
                <a:ea typeface="+mj-ea"/>
                <a:cs typeface="+mj-cs"/>
              </a:rPr>
            </a:br>
            <a:endParaRPr lang="en-US" sz="1400" cap="all" dirty="0">
              <a:ln w="5000" cmpd="sng">
                <a:solidFill>
                  <a:schemeClr val="accent1">
                    <a:tint val="80000"/>
                    <a:shade val="99000"/>
                    <a:satMod val="500000"/>
                  </a:schemeClr>
                </a:solidFill>
                <a:prstDash val="solid"/>
              </a:ln>
              <a:solidFill>
                <a:schemeClr val="accent2"/>
              </a:solidFill>
              <a:latin typeface="+mj-lt"/>
              <a:ea typeface="+mj-ea"/>
              <a:cs typeface="+mj-cs"/>
            </a:endParaRPr>
          </a:p>
          <a:p>
            <a:r>
              <a:rPr lang="en-US" sz="1400" dirty="0"/>
              <a:t> </a:t>
            </a:r>
          </a:p>
          <a:p>
            <a:endParaRPr lang="en-US" sz="1400" dirty="0"/>
          </a:p>
        </p:txBody>
      </p:sp>
    </p:spTree>
    <p:extLst>
      <p:ext uri="{BB962C8B-B14F-4D97-AF65-F5344CB8AC3E}">
        <p14:creationId xmlns:p14="http://schemas.microsoft.com/office/powerpoint/2010/main" val="42085639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1981200"/>
            <a:ext cx="8534400" cy="3785652"/>
          </a:xfrm>
          <a:prstGeom prst="rect">
            <a:avLst/>
          </a:prstGeom>
          <a:noFill/>
        </p:spPr>
        <p:txBody>
          <a:bodyPr wrap="square" rtlCol="0">
            <a:spAutoFit/>
          </a:bodyPr>
          <a:lstStyle/>
          <a:p>
            <a:r>
              <a:rPr lang="en-US" sz="1600" cap="all" dirty="0" smtClean="0">
                <a:ln w="5000" cmpd="sng">
                  <a:solidFill>
                    <a:schemeClr val="accent1">
                      <a:tint val="80000"/>
                      <a:shade val="99000"/>
                      <a:satMod val="500000"/>
                    </a:schemeClr>
                  </a:solidFill>
                  <a:prstDash val="solid"/>
                </a:ln>
                <a:solidFill>
                  <a:schemeClr val="accent2"/>
                </a:solidFill>
              </a:rPr>
              <a:t> </a:t>
            </a:r>
            <a:r>
              <a:rPr lang="en-US" sz="2000" cap="all" dirty="0" err="1">
                <a:ln w="5000" cmpd="sng">
                  <a:solidFill>
                    <a:schemeClr val="accent1">
                      <a:tint val="80000"/>
                      <a:shade val="99000"/>
                      <a:satMod val="500000"/>
                    </a:schemeClr>
                  </a:solidFill>
                  <a:prstDash val="solid"/>
                </a:ln>
                <a:solidFill>
                  <a:schemeClr val="accent2"/>
                </a:solidFill>
              </a:rPr>
              <a:t>OpenCV</a:t>
            </a:r>
            <a:r>
              <a:rPr lang="en-US" sz="2000" cap="all" dirty="0">
                <a:ln w="5000" cmpd="sng">
                  <a:solidFill>
                    <a:schemeClr val="accent1">
                      <a:tint val="80000"/>
                      <a:shade val="99000"/>
                      <a:satMod val="500000"/>
                    </a:schemeClr>
                  </a:solidFill>
                  <a:prstDash val="solid"/>
                </a:ln>
                <a:solidFill>
                  <a:schemeClr val="accent2"/>
                </a:solidFill>
              </a:rPr>
              <a:t> (Open Source Computer Vision Library) is an open source computer vision and machine learning software library. The library has more than </a:t>
            </a:r>
            <a:r>
              <a:rPr lang="en-US" sz="2000" cap="all" dirty="0" smtClean="0">
                <a:ln w="5000" cmpd="sng">
                  <a:solidFill>
                    <a:schemeClr val="accent1">
                      <a:tint val="80000"/>
                      <a:shade val="99000"/>
                      <a:satMod val="500000"/>
                    </a:schemeClr>
                  </a:solidFill>
                  <a:prstDash val="solid"/>
                </a:ln>
                <a:solidFill>
                  <a:schemeClr val="accent2"/>
                </a:solidFill>
              </a:rPr>
              <a:t>2500 optimized </a:t>
            </a:r>
            <a:r>
              <a:rPr lang="en-US" sz="2000" cap="all" dirty="0">
                <a:ln w="5000" cmpd="sng">
                  <a:solidFill>
                    <a:schemeClr val="accent1">
                      <a:tint val="80000"/>
                      <a:shade val="99000"/>
                      <a:satMod val="500000"/>
                    </a:schemeClr>
                  </a:solidFill>
                  <a:prstDash val="solid"/>
                </a:ln>
                <a:solidFill>
                  <a:schemeClr val="accent2"/>
                </a:solidFill>
              </a:rPr>
              <a:t>algorithms, which includes a comprehensive set of both classic and state if applications that used computer vision. In this model, </a:t>
            </a:r>
            <a:r>
              <a:rPr lang="en-US" sz="2000" cap="all" dirty="0" err="1">
                <a:ln w="5000" cmpd="sng">
                  <a:solidFill>
                    <a:schemeClr val="accent1">
                      <a:tint val="80000"/>
                      <a:shade val="99000"/>
                      <a:satMod val="500000"/>
                    </a:schemeClr>
                  </a:solidFill>
                  <a:prstDash val="solid"/>
                </a:ln>
                <a:solidFill>
                  <a:schemeClr val="accent2"/>
                </a:solidFill>
              </a:rPr>
              <a:t>OpenCV</a:t>
            </a:r>
            <a:r>
              <a:rPr lang="en-US" sz="2000" cap="all" dirty="0">
                <a:ln w="5000" cmpd="sng">
                  <a:solidFill>
                    <a:schemeClr val="accent1">
                      <a:tint val="80000"/>
                      <a:shade val="99000"/>
                      <a:satMod val="500000"/>
                    </a:schemeClr>
                  </a:solidFill>
                  <a:prstDash val="solid"/>
                </a:ln>
                <a:solidFill>
                  <a:schemeClr val="accent2"/>
                </a:solidFill>
              </a:rPr>
              <a:t> library is utilized for image and video processing and for  detecting and analyzing faces and objects. [11]The developing of hand gesture recognition using Python and of-the-art computer vision and machine learning algorithms. This library is written in the python language </a:t>
            </a:r>
            <a:br>
              <a:rPr lang="en-US" sz="2000" cap="all" dirty="0">
                <a:ln w="5000" cmpd="sng">
                  <a:solidFill>
                    <a:schemeClr val="accent1">
                      <a:tint val="80000"/>
                      <a:shade val="99000"/>
                      <a:satMod val="500000"/>
                    </a:schemeClr>
                  </a:solidFill>
                  <a:prstDash val="solid"/>
                </a:ln>
                <a:solidFill>
                  <a:schemeClr val="accent2"/>
                </a:solidFill>
              </a:rPr>
            </a:br>
            <a:r>
              <a:rPr lang="en-US" sz="2000" b="1" dirty="0" smtClean="0"/>
              <a:t> </a:t>
            </a:r>
            <a:endParaRPr lang="en-US" sz="2000" dirty="0"/>
          </a:p>
        </p:txBody>
      </p:sp>
      <p:sp>
        <p:nvSpPr>
          <p:cNvPr id="4" name="Title 3"/>
          <p:cNvSpPr>
            <a:spLocks noGrp="1"/>
          </p:cNvSpPr>
          <p:nvPr>
            <p:ph type="title"/>
          </p:nvPr>
        </p:nvSpPr>
        <p:spPr/>
        <p:txBody>
          <a:bodyPr>
            <a:noAutofit/>
          </a:bodyPr>
          <a:lstStyle/>
          <a:p>
            <a:pPr algn="ctr">
              <a:spcBef>
                <a:spcPct val="20000"/>
              </a:spcBef>
              <a:buClr>
                <a:schemeClr val="accent1"/>
              </a:buClr>
              <a:buSzPct val="80000"/>
            </a:pPr>
            <a:r>
              <a:rPr lang="en-US" sz="138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latin typeface="Bahnschrift Condensed" pitchFamily="34" charset="0"/>
              </a:rPr>
              <a:t>OPEN </a:t>
            </a:r>
            <a:r>
              <a:rPr lang="en-US" sz="13800" b="1" cap="all" dirty="0" smtClean="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latin typeface="Bahnschrift Condensed" pitchFamily="34" charset="0"/>
              </a:rPr>
              <a:t>CV</a:t>
            </a:r>
            <a:endParaRPr lang="en-US" sz="138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latin typeface="Bahnschrift Condensed" pitchFamily="34" charset="0"/>
            </a:endParaRPr>
          </a:p>
        </p:txBody>
      </p:sp>
    </p:spTree>
    <p:extLst>
      <p:ext uri="{BB962C8B-B14F-4D97-AF65-F5344CB8AC3E}">
        <p14:creationId xmlns:p14="http://schemas.microsoft.com/office/powerpoint/2010/main" val="10601310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077200" cy="1341120"/>
          </a:xfrm>
        </p:spPr>
        <p:txBody>
          <a:bodyPr>
            <a:noAutofit/>
          </a:bodyPr>
          <a:lstStyle/>
          <a:p>
            <a:pPr algn="ctr">
              <a:spcBef>
                <a:spcPct val="20000"/>
              </a:spcBef>
              <a:buClr>
                <a:schemeClr val="accent1"/>
              </a:buClr>
              <a:buSzPct val="80000"/>
            </a:pPr>
            <a:r>
              <a:rPr lang="en-US" sz="66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latin typeface="Bahnschrift Condensed" pitchFamily="34" charset="0"/>
              </a:rPr>
              <a:t>PROBLEM </a:t>
            </a:r>
            <a:r>
              <a:rPr lang="en-US" sz="6600" b="1" cap="all" dirty="0" smtClean="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latin typeface="Bahnschrift Condensed" pitchFamily="34" charset="0"/>
              </a:rPr>
              <a:t>DESCRIPTION</a:t>
            </a:r>
            <a:endParaRPr lang="en-US" sz="66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latin typeface="Bahnschrift Condensed" pitchFamily="34" charset="0"/>
            </a:endParaRPr>
          </a:p>
        </p:txBody>
      </p:sp>
      <p:sp>
        <p:nvSpPr>
          <p:cNvPr id="3" name="TextBox 2"/>
          <p:cNvSpPr txBox="1"/>
          <p:nvPr/>
        </p:nvSpPr>
        <p:spPr>
          <a:xfrm>
            <a:off x="381000" y="1905000"/>
            <a:ext cx="8610600" cy="4401205"/>
          </a:xfrm>
          <a:prstGeom prst="rect">
            <a:avLst/>
          </a:prstGeom>
          <a:noFill/>
        </p:spPr>
        <p:txBody>
          <a:bodyPr wrap="square" rtlCol="0">
            <a:spAutoFit/>
          </a:bodyPr>
          <a:lstStyle/>
          <a:p>
            <a:r>
              <a:rPr lang="en-US" sz="2000" cap="all" dirty="0">
                <a:ln w="5000" cmpd="sng">
                  <a:solidFill>
                    <a:schemeClr val="accent1">
                      <a:tint val="80000"/>
                      <a:shade val="99000"/>
                      <a:satMod val="500000"/>
                    </a:schemeClr>
                  </a:solidFill>
                  <a:prstDash val="solid"/>
                </a:ln>
                <a:solidFill>
                  <a:schemeClr val="accent2"/>
                </a:solidFill>
              </a:rPr>
              <a:t>This AI virtual mouse can be made use of in places where using a physical mouse is not feasible such as moist or wet conditions, to aid people who can’t handle a device and where there isn’t ample space for using a mouse and to eliminate the need of mouse and cable altogether. In view of the pandemic, there arises a need to avoid high-contact surfaces, out of which the mouse is one. In order to eliminate the need to avoid contact, the system provides an intuitive way to interact with the computer system with the use of hand-gestures and finger tips to emulate mouse-like functions such as scrolling, clicking,</a:t>
            </a:r>
            <a:br>
              <a:rPr lang="en-US" sz="2000" cap="all" dirty="0">
                <a:ln w="5000" cmpd="sng">
                  <a:solidFill>
                    <a:schemeClr val="accent1">
                      <a:tint val="80000"/>
                      <a:shade val="99000"/>
                      <a:satMod val="500000"/>
                    </a:schemeClr>
                  </a:solidFill>
                  <a:prstDash val="solid"/>
                </a:ln>
                <a:solidFill>
                  <a:schemeClr val="accent2"/>
                </a:solidFill>
              </a:rPr>
            </a:br>
            <a:r>
              <a:rPr lang="en-US" sz="2000" cap="all" dirty="0">
                <a:ln w="5000" cmpd="sng">
                  <a:solidFill>
                    <a:schemeClr val="accent1">
                      <a:tint val="80000"/>
                      <a:shade val="99000"/>
                      <a:satMod val="500000"/>
                    </a:schemeClr>
                  </a:solidFill>
                  <a:prstDash val="solid"/>
                </a:ln>
                <a:solidFill>
                  <a:schemeClr val="accent2"/>
                </a:solidFill>
              </a:rPr>
              <a:t>and pointing.</a:t>
            </a:r>
          </a:p>
          <a:p>
            <a:endParaRPr lang="en-US" sz="2000" dirty="0"/>
          </a:p>
        </p:txBody>
      </p:sp>
    </p:spTree>
    <p:extLst>
      <p:ext uri="{BB962C8B-B14F-4D97-AF65-F5344CB8AC3E}">
        <p14:creationId xmlns:p14="http://schemas.microsoft.com/office/powerpoint/2010/main" val="37102608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spcBef>
                <a:spcPct val="20000"/>
              </a:spcBef>
              <a:buClr>
                <a:schemeClr val="accent1"/>
              </a:buClr>
              <a:buSzPct val="80000"/>
            </a:pPr>
            <a:r>
              <a:rPr lang="en-US" sz="13800" b="1" cap="all" dirty="0" smtClean="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latin typeface="Bahnschrift Condensed" pitchFamily="34" charset="0"/>
              </a:rPr>
              <a:t>RESULTS </a:t>
            </a:r>
            <a:endParaRPr lang="en-US" sz="138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latin typeface="Bahnschrift Condensed" pitchFamily="34" charset="0"/>
            </a:endParaRPr>
          </a:p>
        </p:txBody>
      </p:sp>
      <p:sp>
        <p:nvSpPr>
          <p:cNvPr id="3" name="TextBox 2"/>
          <p:cNvSpPr txBox="1"/>
          <p:nvPr/>
        </p:nvSpPr>
        <p:spPr>
          <a:xfrm>
            <a:off x="468086" y="1981200"/>
            <a:ext cx="8458200" cy="4585871"/>
          </a:xfrm>
          <a:prstGeom prst="rect">
            <a:avLst/>
          </a:prstGeom>
          <a:noFill/>
        </p:spPr>
        <p:txBody>
          <a:bodyPr wrap="square" rtlCol="0">
            <a:spAutoFit/>
          </a:bodyPr>
          <a:lstStyle/>
          <a:p>
            <a:r>
              <a:rPr lang="en-US" sz="1600" cap="all" dirty="0">
                <a:ln w="5000" cmpd="sng">
                  <a:solidFill>
                    <a:schemeClr val="accent1">
                      <a:tint val="80000"/>
                      <a:shade val="99000"/>
                      <a:satMod val="500000"/>
                    </a:schemeClr>
                  </a:solidFill>
                  <a:prstDash val="solid"/>
                </a:ln>
                <a:solidFill>
                  <a:schemeClr val="accent2"/>
                </a:solidFill>
              </a:rPr>
              <a:t>The proposed model of AI virtual mouse demonstrates the idea of computer vision technology and machine learning</a:t>
            </a:r>
            <a:br>
              <a:rPr lang="en-US" sz="1600" cap="all" dirty="0">
                <a:ln w="5000" cmpd="sng">
                  <a:solidFill>
                    <a:schemeClr val="accent1">
                      <a:tint val="80000"/>
                      <a:shade val="99000"/>
                      <a:satMod val="500000"/>
                    </a:schemeClr>
                  </a:solidFill>
                  <a:prstDash val="solid"/>
                </a:ln>
                <a:solidFill>
                  <a:schemeClr val="accent2"/>
                </a:solidFill>
              </a:rPr>
            </a:br>
            <a:r>
              <a:rPr lang="en-US" sz="1600" cap="all" dirty="0">
                <a:ln w="5000" cmpd="sng">
                  <a:solidFill>
                    <a:schemeClr val="accent1">
                      <a:tint val="80000"/>
                      <a:shade val="99000"/>
                      <a:satMod val="500000"/>
                    </a:schemeClr>
                  </a:solidFill>
                  <a:prstDash val="solid"/>
                </a:ln>
                <a:solidFill>
                  <a:schemeClr val="accent2"/>
                </a:solidFill>
              </a:rPr>
              <a:t>capabilities.</a:t>
            </a:r>
            <a:br>
              <a:rPr lang="en-US" sz="1600" cap="all" dirty="0">
                <a:ln w="5000" cmpd="sng">
                  <a:solidFill>
                    <a:schemeClr val="accent1">
                      <a:tint val="80000"/>
                      <a:shade val="99000"/>
                      <a:satMod val="500000"/>
                    </a:schemeClr>
                  </a:solidFill>
                  <a:prstDash val="solid"/>
                </a:ln>
                <a:solidFill>
                  <a:schemeClr val="accent2"/>
                </a:solidFill>
              </a:rPr>
            </a:br>
            <a:r>
              <a:rPr lang="en-US" sz="1600" cap="all" dirty="0">
                <a:ln w="5000" cmpd="sng">
                  <a:solidFill>
                    <a:schemeClr val="accent1">
                      <a:tint val="80000"/>
                      <a:shade val="99000"/>
                      <a:satMod val="500000"/>
                    </a:schemeClr>
                  </a:solidFill>
                  <a:prstDash val="solid"/>
                </a:ln>
                <a:solidFill>
                  <a:schemeClr val="accent2"/>
                </a:solidFill>
              </a:rPr>
              <a:t>For verifying and testing of the proposed AI virtual mouse system only a certain quantity of datasets are attainable. The hand</a:t>
            </a:r>
            <a:br>
              <a:rPr lang="en-US" sz="1600" cap="all" dirty="0">
                <a:ln w="5000" cmpd="sng">
                  <a:solidFill>
                    <a:schemeClr val="accent1">
                      <a:tint val="80000"/>
                      <a:shade val="99000"/>
                      <a:satMod val="500000"/>
                    </a:schemeClr>
                  </a:solidFill>
                  <a:prstDash val="solid"/>
                </a:ln>
                <a:solidFill>
                  <a:schemeClr val="accent2"/>
                </a:solidFill>
              </a:rPr>
            </a:br>
            <a:r>
              <a:rPr lang="en-US" sz="1600" cap="all" dirty="0">
                <a:ln w="5000" cmpd="sng">
                  <a:solidFill>
                    <a:schemeClr val="accent1">
                      <a:tint val="80000"/>
                      <a:shade val="99000"/>
                      <a:satMod val="500000"/>
                    </a:schemeClr>
                  </a:solidFill>
                  <a:prstDash val="solid"/>
                </a:ln>
                <a:solidFill>
                  <a:schemeClr val="accent2"/>
                </a:solidFill>
              </a:rPr>
              <a:t>tracking, finger-tip detection and gestures recognition have been performed in various illuminated conditions and at</a:t>
            </a:r>
            <a:br>
              <a:rPr lang="en-US" sz="1600" cap="all" dirty="0">
                <a:ln w="5000" cmpd="sng">
                  <a:solidFill>
                    <a:schemeClr val="accent1">
                      <a:tint val="80000"/>
                      <a:shade val="99000"/>
                      <a:satMod val="500000"/>
                    </a:schemeClr>
                  </a:solidFill>
                  <a:prstDash val="solid"/>
                </a:ln>
                <a:solidFill>
                  <a:schemeClr val="accent2"/>
                </a:solidFill>
              </a:rPr>
            </a:br>
            <a:r>
              <a:rPr lang="en-US" sz="1600" cap="all" dirty="0">
                <a:ln w="5000" cmpd="sng">
                  <a:solidFill>
                    <a:schemeClr val="accent1">
                      <a:tint val="80000"/>
                      <a:shade val="99000"/>
                      <a:satMod val="500000"/>
                    </a:schemeClr>
                  </a:solidFill>
                  <a:prstDash val="solid"/>
                </a:ln>
                <a:solidFill>
                  <a:schemeClr val="accent2"/>
                </a:solidFill>
              </a:rPr>
              <a:t>diversified distances from the camera. The results of the testing are given below. </a:t>
            </a:r>
            <a:r>
              <a:rPr lang="en-US" sz="1600" cap="all" dirty="0">
                <a:ln w="5000" cmpd="sng">
                  <a:solidFill>
                    <a:schemeClr val="accent1">
                      <a:tint val="80000"/>
                      <a:shade val="99000"/>
                      <a:satMod val="500000"/>
                    </a:schemeClr>
                  </a:solidFill>
                  <a:prstDash val="solid"/>
                </a:ln>
                <a:solidFill>
                  <a:schemeClr val="accent2"/>
                </a:solidFill>
              </a:rPr>
              <a:t>The test was performed 25 times by 4</a:t>
            </a:r>
            <a:br>
              <a:rPr lang="en-US" sz="1600" cap="all" dirty="0">
                <a:ln w="5000" cmpd="sng">
                  <a:solidFill>
                    <a:schemeClr val="accent1">
                      <a:tint val="80000"/>
                      <a:shade val="99000"/>
                      <a:satMod val="500000"/>
                    </a:schemeClr>
                  </a:solidFill>
                  <a:prstDash val="solid"/>
                </a:ln>
                <a:solidFill>
                  <a:schemeClr val="accent2"/>
                </a:solidFill>
              </a:rPr>
            </a:br>
            <a:r>
              <a:rPr lang="en-US" sz="1600" cap="all" dirty="0">
                <a:ln w="5000" cmpd="sng">
                  <a:solidFill>
                    <a:schemeClr val="accent1">
                      <a:tint val="80000"/>
                      <a:shade val="99000"/>
                      <a:satMod val="500000"/>
                    </a:schemeClr>
                  </a:solidFill>
                  <a:prstDash val="solid"/>
                </a:ln>
                <a:solidFill>
                  <a:schemeClr val="accent2"/>
                </a:solidFill>
              </a:rPr>
              <a:t>persons resulting in 600 gestures with manual labeling, and this test has been made in different light conditions and at</a:t>
            </a:r>
            <a:br>
              <a:rPr lang="en-US" sz="1600" cap="all" dirty="0">
                <a:ln w="5000" cmpd="sng">
                  <a:solidFill>
                    <a:schemeClr val="accent1">
                      <a:tint val="80000"/>
                      <a:shade val="99000"/>
                      <a:satMod val="500000"/>
                    </a:schemeClr>
                  </a:solidFill>
                  <a:prstDash val="solid"/>
                </a:ln>
                <a:solidFill>
                  <a:schemeClr val="accent2"/>
                </a:solidFill>
              </a:rPr>
            </a:br>
            <a:r>
              <a:rPr lang="en-US" sz="1600" cap="all" dirty="0">
                <a:ln w="5000" cmpd="sng">
                  <a:solidFill>
                    <a:schemeClr val="accent1">
                      <a:tint val="80000"/>
                      <a:shade val="99000"/>
                      <a:satMod val="500000"/>
                    </a:schemeClr>
                  </a:solidFill>
                  <a:prstDash val="solid"/>
                </a:ln>
                <a:solidFill>
                  <a:schemeClr val="accent2"/>
                </a:solidFill>
              </a:rPr>
              <a:t>different distances from the screen, and each person tested the AI virtual mouse system 10 times in normal light conditions, 5</a:t>
            </a:r>
            <a:br>
              <a:rPr lang="en-US" sz="1600" cap="all" dirty="0">
                <a:ln w="5000" cmpd="sng">
                  <a:solidFill>
                    <a:schemeClr val="accent1">
                      <a:tint val="80000"/>
                      <a:shade val="99000"/>
                      <a:satMod val="500000"/>
                    </a:schemeClr>
                  </a:solidFill>
                  <a:prstDash val="solid"/>
                </a:ln>
                <a:solidFill>
                  <a:schemeClr val="accent2"/>
                </a:solidFill>
              </a:rPr>
            </a:br>
            <a:r>
              <a:rPr lang="en-US" sz="1600" cap="all" dirty="0">
                <a:ln w="5000" cmpd="sng">
                  <a:solidFill>
                    <a:schemeClr val="accent1">
                      <a:tint val="80000"/>
                      <a:shade val="99000"/>
                      <a:satMod val="500000"/>
                    </a:schemeClr>
                  </a:solidFill>
                  <a:prstDash val="solid"/>
                </a:ln>
                <a:solidFill>
                  <a:schemeClr val="accent2"/>
                </a:solidFill>
              </a:rPr>
              <a:t>times in faint light conditions, 5 times in close distance from the webcam, and 5 times in long distance from the webcam, and</a:t>
            </a:r>
            <a:br>
              <a:rPr lang="en-US" sz="1600" cap="all" dirty="0">
                <a:ln w="5000" cmpd="sng">
                  <a:solidFill>
                    <a:schemeClr val="accent1">
                      <a:tint val="80000"/>
                      <a:shade val="99000"/>
                      <a:satMod val="500000"/>
                    </a:schemeClr>
                  </a:solidFill>
                  <a:prstDash val="solid"/>
                </a:ln>
                <a:solidFill>
                  <a:schemeClr val="accent2"/>
                </a:solidFill>
              </a:rPr>
            </a:br>
            <a:r>
              <a:rPr lang="en-US" sz="1600" cap="all" dirty="0">
                <a:ln w="5000" cmpd="sng">
                  <a:solidFill>
                    <a:schemeClr val="accent1">
                      <a:tint val="80000"/>
                      <a:shade val="99000"/>
                      <a:satMod val="500000"/>
                    </a:schemeClr>
                  </a:solidFill>
                  <a:prstDash val="solid"/>
                </a:ln>
                <a:solidFill>
                  <a:schemeClr val="accent2"/>
                </a:solidFill>
              </a:rPr>
              <a:t>the experimental results are tabulated in </a:t>
            </a:r>
            <a:r>
              <a:rPr lang="en-US" sz="1600" cap="all" dirty="0" smtClean="0">
                <a:ln w="5000" cmpd="sng">
                  <a:solidFill>
                    <a:schemeClr val="accent1">
                      <a:tint val="80000"/>
                      <a:shade val="99000"/>
                      <a:satMod val="500000"/>
                    </a:schemeClr>
                  </a:solidFill>
                  <a:prstDash val="solid"/>
                </a:ln>
                <a:solidFill>
                  <a:schemeClr val="accent2"/>
                </a:solidFill>
              </a:rPr>
              <a:t>Table:</a:t>
            </a:r>
            <a:endParaRPr lang="en-US" sz="1600" cap="all" dirty="0">
              <a:ln w="5000" cmpd="sng">
                <a:solidFill>
                  <a:schemeClr val="accent1">
                    <a:tint val="80000"/>
                    <a:shade val="99000"/>
                    <a:satMod val="500000"/>
                  </a:schemeClr>
                </a:solidFill>
                <a:prstDash val="solid"/>
              </a:ln>
              <a:solidFill>
                <a:schemeClr val="accent2"/>
              </a:solidFill>
            </a:endParaRPr>
          </a:p>
          <a:p>
            <a:r>
              <a:rPr lang="en-US" b="1" dirty="0"/>
              <a:t>  </a:t>
            </a:r>
            <a:endParaRPr lang="en-US" dirty="0"/>
          </a:p>
          <a:p>
            <a:endParaRPr lang="en-US" dirty="0"/>
          </a:p>
        </p:txBody>
      </p:sp>
    </p:spTree>
    <p:extLst>
      <p:ext uri="{BB962C8B-B14F-4D97-AF65-F5344CB8AC3E}">
        <p14:creationId xmlns:p14="http://schemas.microsoft.com/office/powerpoint/2010/main" val="24744455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
          <p:cNvPicPr>
            <a:picLocks noGrp="1"/>
          </p:cNvPicPr>
          <p:nvPr>
            <p:ph idx="1"/>
          </p:nvPr>
        </p:nvPicPr>
        <p:blipFill>
          <a:blip r:embed="rId2">
            <a:lum/>
            <a:alphaModFix/>
          </a:blip>
          <a:srcRect/>
          <a:stretch>
            <a:fillRect/>
          </a:stretch>
        </p:blipFill>
        <p:spPr>
          <a:xfrm>
            <a:off x="914400" y="1828800"/>
            <a:ext cx="7315200" cy="4343400"/>
          </a:xfrm>
          <a:prstGeom prst="rect">
            <a:avLst/>
          </a:prstGeom>
          <a:noFill/>
          <a:ln>
            <a:noFill/>
            <a:prstDash/>
          </a:ln>
        </p:spPr>
      </p:pic>
    </p:spTree>
    <p:extLst>
      <p:ext uri="{BB962C8B-B14F-4D97-AF65-F5344CB8AC3E}">
        <p14:creationId xmlns:p14="http://schemas.microsoft.com/office/powerpoint/2010/main" val="10789692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2"/>
          <p:cNvPicPr/>
          <p:nvPr/>
        </p:nvPicPr>
        <p:blipFill>
          <a:blip r:embed="rId2">
            <a:alphaModFix/>
            <a:lum/>
          </a:blip>
          <a:srcRect/>
          <a:stretch>
            <a:fillRect/>
          </a:stretch>
        </p:blipFill>
        <p:spPr>
          <a:xfrm>
            <a:off x="838200" y="1828800"/>
            <a:ext cx="7391400" cy="4343400"/>
          </a:xfrm>
          <a:prstGeom prst="rect">
            <a:avLst/>
          </a:prstGeom>
          <a:noFill/>
          <a:ln>
            <a:noFill/>
            <a:prstDash/>
          </a:ln>
        </p:spPr>
      </p:pic>
    </p:spTree>
    <p:extLst>
      <p:ext uri="{BB962C8B-B14F-4D97-AF65-F5344CB8AC3E}">
        <p14:creationId xmlns:p14="http://schemas.microsoft.com/office/powerpoint/2010/main" val="20160527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09800"/>
            <a:ext cx="8610600" cy="4191000"/>
          </a:xfrm>
        </p:spPr>
        <p:txBody>
          <a:bodyPr>
            <a:noAutofit/>
          </a:bodyPr>
          <a:lstStyle/>
          <a:p>
            <a:r>
              <a:rPr lang="en-US" sz="1600" cap="all" dirty="0">
                <a:solidFill>
                  <a:schemeClr val="accent2"/>
                </a:solidFill>
                <a:latin typeface="+mn-lt"/>
                <a:ea typeface="+mn-ea"/>
                <a:cs typeface="+mn-cs"/>
              </a:rPr>
              <a:t>This AI virtual mouse has some drawbacks such as drop in </a:t>
            </a:r>
            <a:r>
              <a:rPr lang="en-US" sz="1600" cap="all" dirty="0" smtClean="0">
                <a:solidFill>
                  <a:schemeClr val="accent2"/>
                </a:solidFill>
                <a:latin typeface="+mn-lt"/>
                <a:ea typeface="+mn-ea"/>
                <a:cs typeface="+mn-cs"/>
              </a:rPr>
              <a:t>accuracy </a:t>
            </a:r>
            <a:r>
              <a:rPr lang="en-US" sz="1600" cap="all" dirty="0">
                <a:solidFill>
                  <a:schemeClr val="accent2"/>
                </a:solidFill>
                <a:latin typeface="+mn-lt"/>
                <a:ea typeface="+mn-ea"/>
                <a:cs typeface="+mn-cs"/>
              </a:rPr>
              <a:t>of some functions like right click operation and </a:t>
            </a:r>
            <a:r>
              <a:rPr lang="en-US" sz="1600" cap="all" dirty="0" smtClean="0">
                <a:solidFill>
                  <a:schemeClr val="accent2"/>
                </a:solidFill>
                <a:latin typeface="+mn-lt"/>
                <a:ea typeface="+mn-ea"/>
                <a:cs typeface="+mn-cs"/>
              </a:rPr>
              <a:t>inability to </a:t>
            </a:r>
            <a:r>
              <a:rPr lang="en-US" sz="1600" cap="all" dirty="0">
                <a:solidFill>
                  <a:schemeClr val="accent2"/>
                </a:solidFill>
                <a:latin typeface="+mn-lt"/>
                <a:ea typeface="+mn-ea"/>
                <a:cs typeface="+mn-cs"/>
              </a:rPr>
              <a:t>perform other mouse functions such as dragging and dropping, and selecting text. Another major limitation is that </a:t>
            </a:r>
            <a:r>
              <a:rPr lang="en-US" sz="1600" cap="all" dirty="0" smtClean="0">
                <a:solidFill>
                  <a:schemeClr val="accent2"/>
                </a:solidFill>
                <a:latin typeface="+mn-lt"/>
                <a:ea typeface="+mn-ea"/>
                <a:cs typeface="+mn-cs"/>
              </a:rPr>
              <a:t>this model </a:t>
            </a:r>
            <a:r>
              <a:rPr lang="en-US" sz="1600" cap="all" dirty="0">
                <a:solidFill>
                  <a:schemeClr val="accent2"/>
                </a:solidFill>
                <a:latin typeface="+mn-lt"/>
                <a:ea typeface="+mn-ea"/>
                <a:cs typeface="+mn-cs"/>
              </a:rPr>
              <a:t>cannot function in the dark or low light settings. These drawbacks can be addressed in the future and can be </a:t>
            </a:r>
            <a:r>
              <a:rPr lang="en-US" sz="1600" cap="all" dirty="0" smtClean="0">
                <a:solidFill>
                  <a:schemeClr val="accent2"/>
                </a:solidFill>
                <a:latin typeface="+mn-lt"/>
                <a:ea typeface="+mn-ea"/>
                <a:cs typeface="+mn-cs"/>
              </a:rPr>
              <a:t>overcome. Apart </a:t>
            </a:r>
            <a:r>
              <a:rPr lang="en-US" sz="1600" cap="all" dirty="0">
                <a:solidFill>
                  <a:schemeClr val="accent2"/>
                </a:solidFill>
                <a:latin typeface="+mn-lt"/>
                <a:ea typeface="+mn-ea"/>
                <a:cs typeface="+mn-cs"/>
              </a:rPr>
              <a:t>from the above-mentioned, additionally key board capability can be incorporated to emulate keyboard functions </a:t>
            </a:r>
            <a:r>
              <a:rPr lang="en-US" sz="1600" cap="all" dirty="0" smtClean="0">
                <a:solidFill>
                  <a:schemeClr val="accent2"/>
                </a:solidFill>
                <a:latin typeface="+mn-lt"/>
                <a:ea typeface="+mn-ea"/>
                <a:cs typeface="+mn-cs"/>
              </a:rPr>
              <a:t>along with </a:t>
            </a:r>
            <a:r>
              <a:rPr lang="en-US" sz="1600" cap="all" dirty="0">
                <a:solidFill>
                  <a:schemeClr val="accent2"/>
                </a:solidFill>
                <a:latin typeface="+mn-lt"/>
                <a:ea typeface="+mn-ea"/>
                <a:cs typeface="+mn-cs"/>
              </a:rPr>
              <a:t>the mouse operations which proves to be the scope for the </a:t>
            </a:r>
            <a:r>
              <a:rPr lang="en-US" sz="1600" cap="all" dirty="0" smtClean="0">
                <a:solidFill>
                  <a:schemeClr val="accent2"/>
                </a:solidFill>
                <a:latin typeface="+mn-lt"/>
                <a:ea typeface="+mn-ea"/>
                <a:cs typeface="+mn-cs"/>
              </a:rPr>
              <a:t>future..</a:t>
            </a:r>
            <a:r>
              <a:rPr lang="en-US" sz="1600" cap="all" dirty="0">
                <a:solidFill>
                  <a:schemeClr val="accent2"/>
                </a:solidFill>
                <a:latin typeface="+mn-lt"/>
                <a:ea typeface="+mn-ea"/>
                <a:cs typeface="+mn-cs"/>
              </a:rPr>
              <a:t/>
            </a:r>
            <a:br>
              <a:rPr lang="en-US" sz="1600" cap="all" dirty="0">
                <a:solidFill>
                  <a:schemeClr val="accent2"/>
                </a:solidFill>
                <a:latin typeface="+mn-lt"/>
                <a:ea typeface="+mn-ea"/>
                <a:cs typeface="+mn-cs"/>
              </a:rPr>
            </a:br>
            <a:endParaRPr lang="en-US" sz="1600" cap="all" dirty="0">
              <a:solidFill>
                <a:schemeClr val="accent2"/>
              </a:solidFill>
              <a:latin typeface="+mn-lt"/>
              <a:ea typeface="+mn-ea"/>
              <a:cs typeface="+mn-cs"/>
            </a:endParaRPr>
          </a:p>
        </p:txBody>
      </p:sp>
      <p:sp>
        <p:nvSpPr>
          <p:cNvPr id="3" name="Text Placeholder 2"/>
          <p:cNvSpPr>
            <a:spLocks noGrp="1"/>
          </p:cNvSpPr>
          <p:nvPr>
            <p:ph type="body" idx="1"/>
          </p:nvPr>
        </p:nvSpPr>
        <p:spPr>
          <a:xfrm>
            <a:off x="609600" y="1066800"/>
            <a:ext cx="6629400" cy="1066688"/>
          </a:xfrm>
        </p:spPr>
        <p:txBody>
          <a:bodyPr>
            <a:normAutofit fontScale="62500" lnSpcReduction="20000"/>
          </a:bodyPr>
          <a:lstStyle/>
          <a:p>
            <a:pPr algn="ctr"/>
            <a:r>
              <a:rPr lang="en-US" sz="138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latin typeface="Bahnschrift Condensed" pitchFamily="34" charset="0"/>
                <a:ea typeface="+mj-ea"/>
                <a:cs typeface="+mj-cs"/>
              </a:rPr>
              <a:t>FUTURE SCOPE</a:t>
            </a:r>
          </a:p>
          <a:p>
            <a:endParaRPr lang="en-US" dirty="0"/>
          </a:p>
        </p:txBody>
      </p:sp>
    </p:spTree>
    <p:extLst>
      <p:ext uri="{BB962C8B-B14F-4D97-AF65-F5344CB8AC3E}">
        <p14:creationId xmlns:p14="http://schemas.microsoft.com/office/powerpoint/2010/main" val="142909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3200"/>
            <a:ext cx="8382000" cy="4765897"/>
          </a:xfrm>
        </p:spPr>
        <p:txBody>
          <a:bodyPr>
            <a:noAutofit/>
          </a:bodyPr>
          <a:lstStyle/>
          <a:p>
            <a:r>
              <a:rPr lang="en-US" sz="2000" cap="all" dirty="0">
                <a:solidFill>
                  <a:schemeClr val="accent2"/>
                </a:solidFill>
                <a:latin typeface="+mn-lt"/>
                <a:ea typeface="+mn-ea"/>
                <a:cs typeface="+mn-cs"/>
              </a:rPr>
              <a:t>The main objective of the proposed virtual AI mouse is to furnish an alternative to the conventional physical mouse </a:t>
            </a:r>
            <a:r>
              <a:rPr lang="en-US" sz="2000" cap="all" dirty="0">
                <a:solidFill>
                  <a:schemeClr val="accent2"/>
                </a:solidFill>
                <a:latin typeface="+mn-lt"/>
                <a:ea typeface="+mn-ea"/>
                <a:cs typeface="+mn-cs"/>
              </a:rPr>
              <a:t>that provides </a:t>
            </a:r>
            <a:r>
              <a:rPr lang="en-US" sz="2000" cap="all" dirty="0">
                <a:solidFill>
                  <a:schemeClr val="accent2"/>
                </a:solidFill>
                <a:latin typeface="+mn-lt"/>
                <a:ea typeface="+mn-ea"/>
                <a:cs typeface="+mn-cs"/>
              </a:rPr>
              <a:t>mouse functions with the help of computer vision enabled computer that houses a web camera which </a:t>
            </a:r>
            <a:r>
              <a:rPr lang="en-US" sz="2000" cap="all" dirty="0">
                <a:solidFill>
                  <a:schemeClr val="accent2"/>
                </a:solidFill>
                <a:latin typeface="+mn-lt"/>
                <a:ea typeface="+mn-ea"/>
                <a:cs typeface="+mn-cs"/>
              </a:rPr>
              <a:t>recognizes fingers </a:t>
            </a:r>
            <a:r>
              <a:rPr lang="en-US" sz="2000" cap="all" dirty="0">
                <a:solidFill>
                  <a:schemeClr val="accent2"/>
                </a:solidFill>
                <a:latin typeface="+mn-lt"/>
                <a:ea typeface="+mn-ea"/>
                <a:cs typeface="+mn-cs"/>
              </a:rPr>
              <a:t>and hand gestures and processes the captured frames and uses a machine learning algorithm to execute the </a:t>
            </a:r>
            <a:r>
              <a:rPr lang="en-US" sz="2000" cap="all" dirty="0">
                <a:solidFill>
                  <a:schemeClr val="accent2"/>
                </a:solidFill>
                <a:latin typeface="+mn-lt"/>
                <a:ea typeface="+mn-ea"/>
                <a:cs typeface="+mn-cs"/>
              </a:rPr>
              <a:t>defined mouse </a:t>
            </a:r>
            <a:r>
              <a:rPr lang="en-US" sz="2000" cap="all" dirty="0">
                <a:solidFill>
                  <a:schemeClr val="accent2"/>
                </a:solidFill>
                <a:latin typeface="+mn-lt"/>
                <a:ea typeface="+mn-ea"/>
                <a:cs typeface="+mn-cs"/>
              </a:rPr>
              <a:t>functions like moving the cursor, right click, left click and scrolling function.</a:t>
            </a:r>
            <a:br>
              <a:rPr lang="en-US" sz="2000" cap="all" dirty="0">
                <a:solidFill>
                  <a:schemeClr val="accent2"/>
                </a:solidFill>
                <a:latin typeface="+mn-lt"/>
                <a:ea typeface="+mn-ea"/>
                <a:cs typeface="+mn-cs"/>
              </a:rPr>
            </a:br>
            <a:endParaRPr lang="en-US" sz="2000" cap="all" dirty="0">
              <a:solidFill>
                <a:schemeClr val="accent2"/>
              </a:solidFill>
              <a:latin typeface="+mn-lt"/>
              <a:ea typeface="+mn-ea"/>
              <a:cs typeface="+mn-cs"/>
            </a:endParaRPr>
          </a:p>
        </p:txBody>
      </p:sp>
      <p:sp>
        <p:nvSpPr>
          <p:cNvPr id="3" name="Text Placeholder 2"/>
          <p:cNvSpPr>
            <a:spLocks noGrp="1"/>
          </p:cNvSpPr>
          <p:nvPr>
            <p:ph type="body" idx="1"/>
          </p:nvPr>
        </p:nvSpPr>
        <p:spPr>
          <a:xfrm>
            <a:off x="990600" y="914400"/>
            <a:ext cx="6629400" cy="1066688"/>
          </a:xfrm>
        </p:spPr>
        <p:txBody>
          <a:bodyPr/>
          <a:lstStyle/>
          <a:p>
            <a:pPr algn="ctr">
              <a:lnSpc>
                <a:spcPct val="80000"/>
              </a:lnSpc>
            </a:pPr>
            <a:r>
              <a:rPr lang="en-US" sz="86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latin typeface="Bahnschrift Condensed" pitchFamily="34" charset="0"/>
                <a:ea typeface="+mj-ea"/>
                <a:cs typeface="+mj-cs"/>
              </a:rPr>
              <a:t>CONCLUSION</a:t>
            </a:r>
          </a:p>
          <a:p>
            <a:endParaRPr lang="en-US" dirty="0"/>
          </a:p>
        </p:txBody>
      </p:sp>
    </p:spTree>
    <p:extLst>
      <p:ext uri="{BB962C8B-B14F-4D97-AF65-F5344CB8AC3E}">
        <p14:creationId xmlns:p14="http://schemas.microsoft.com/office/powerpoint/2010/main" val="288732061"/>
      </p:ext>
    </p:extLst>
  </p:cSld>
  <p:clrMapOvr>
    <a:masterClrMapping/>
  </p:clrMapOvr>
  <p:timing>
    <p:tnLst>
      <p:par>
        <p:cTn id="1" dur="indefinite" restart="never" nodeType="tmRoot"/>
      </p:par>
    </p:tnLst>
  </p:timing>
</p:sld>
</file>

<file path=ppt/theme/theme1.xml><?xml version="1.0" encoding="utf-8"?>
<a:theme xmlns:a="http://schemas.openxmlformats.org/drawingml/2006/main" name="Technic">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Technic</Template>
  <TotalTime>46</TotalTime>
  <Words>587</Words>
  <Application>Microsoft Office PowerPoint</Application>
  <PresentationFormat>On-screen Show (4:3)</PresentationFormat>
  <Paragraphs>20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Technic</vt:lpstr>
      <vt:lpstr>AI VIRTUAL MOTION CONTROLLER</vt:lpstr>
      <vt:lpstr>The Virtual AI MOTION CONTROLLER provides an infrastructure between the user and the system using only a camera. It allows users to interface with machines without the use of mechanical or physical devices, and even control mouse functionalities.</vt:lpstr>
      <vt:lpstr>PowerPoint Presentation</vt:lpstr>
      <vt:lpstr>The main objective of the proposed virtual AI mouse is to furnish an alternative to the conventional physical mouse that provides mouse functions with the help of computer vision enabled computer that houses a web camera which recognizes fingers and hand gestures and processes the captured frames and uses a machine learning algorithm to execute the defined mouse functions like moving the cursor, right click, left click and scrolling function. Also we are using multiple libraries to perform this project. </vt:lpstr>
      <vt:lpstr>METHOD</vt:lpstr>
      <vt:lpstr>media pipe</vt:lpstr>
      <vt:lpstr>OPEN CV</vt:lpstr>
      <vt:lpstr>PROBLEM DESCRIPTION</vt:lpstr>
      <vt:lpstr>RESULTS </vt:lpstr>
      <vt:lpstr>PowerPoint Presentation</vt:lpstr>
      <vt:lpstr>PowerPoint Presentation</vt:lpstr>
      <vt:lpstr>This AI virtual mouse has some drawbacks such as drop in accuracy of some functions like right click operation and inability to perform other mouse functions such as dragging and dropping, and selecting text. Another major limitation is that this model cannot function in the dark or low light settings. These drawbacks can be addressed in the future and can be overcome. Apart from the above-mentioned, additionally key board capability can be incorporated to emulate keyboard functions along with the mouse operations which proves to be the scope for the future.. </vt:lpstr>
      <vt:lpstr>The main objective of the proposed virtual AI mouse is to furnish an alternative to the conventional physical mouse that provides mouse functions with the help of computer vision enabled computer that houses a web camera which recognizes fingers and hand gestures and processes the captured frames and uses a machine learning algorithm to execute the defined mouse functions like moving the cursor, right click, left click and scrolling function.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VIRTUAL MOTION CONTROLLER</dc:title>
  <dc:creator>pro-tech</dc:creator>
  <cp:lastModifiedBy>pro-tech</cp:lastModifiedBy>
  <cp:revision>5</cp:revision>
  <dcterms:created xsi:type="dcterms:W3CDTF">2022-09-23T18:09:27Z</dcterms:created>
  <dcterms:modified xsi:type="dcterms:W3CDTF">2022-09-23T18:56:26Z</dcterms:modified>
</cp:coreProperties>
</file>